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04000" cx="30276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82">
          <p15:clr>
            <a:srgbClr val="747775"/>
          </p15:clr>
        </p15:guide>
        <p15:guide id="2" pos="953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2" orient="horz"/>
        <p:guide pos="953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Relationship Id="rId9" Type="http://schemas.openxmlformats.org/officeDocument/2006/relationships/font" Target="fonts/Montserrat-italic.fntdata"/><Relationship Id="rId10" Type="http://schemas.openxmlformats.org/officeDocument/2006/relationships/font" Target="fonts/Montserra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1pPr>
            <a:lvl2pPr lvl="1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2pPr>
            <a:lvl3pPr lvl="2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3pPr>
            <a:lvl4pPr lvl="3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4pPr>
            <a:lvl5pPr lvl="4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5pPr>
            <a:lvl6pPr lvl="5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6pPr>
            <a:lvl7pPr lvl="6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7pPr>
            <a:lvl8pPr lvl="7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8pPr>
            <a:lvl9pPr lvl="8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797966" lvl="0" marL="457200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71441" lvl="0" marL="4572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71441" lvl="0" marL="4572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1pPr>
            <a:lvl2pPr lvl="1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2pPr>
            <a:lvl3pPr lvl="2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3pPr>
            <a:lvl4pPr lvl="3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4pPr>
            <a:lvl5pPr lvl="4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5pPr>
            <a:lvl6pPr lvl="5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6pPr>
            <a:lvl7pPr lvl="6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7pPr>
            <a:lvl8pPr lvl="7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8pPr>
            <a:lvl9pPr lvl="8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08178" lvl="0" marL="4572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1pPr>
            <a:lvl2pPr lvl="1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2pPr>
            <a:lvl3pPr lvl="2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3pPr>
            <a:lvl4pPr lvl="3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4pPr>
            <a:lvl5pPr lvl="4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5pPr>
            <a:lvl6pPr lvl="5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6pPr>
            <a:lvl7pPr lvl="6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7pPr>
            <a:lvl8pPr lvl="7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8pPr>
            <a:lvl9pPr lvl="8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1pPr>
            <a:lvl2pPr lvl="1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2pPr>
            <a:lvl3pPr lvl="2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3pPr>
            <a:lvl4pPr lvl="3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4pPr>
            <a:lvl5pPr lvl="4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5pPr>
            <a:lvl6pPr lvl="5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6pPr>
            <a:lvl7pPr lvl="6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7pPr>
            <a:lvl8pPr lvl="7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8pPr>
            <a:lvl9pPr lvl="8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indent="-797966" lvl="0" marL="457200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66"/>
              <a:buNone/>
              <a:defRPr sz="8966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1pPr>
            <a:lvl2pPr lvl="1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2pPr>
            <a:lvl3pPr lvl="2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3pPr>
            <a:lvl4pPr lvl="3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4pPr>
            <a:lvl5pPr lvl="4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5pPr>
            <a:lvl6pPr lvl="5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6pPr>
            <a:lvl7pPr lvl="6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7pPr>
            <a:lvl8pPr lvl="7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8pPr>
            <a:lvl9pPr lvl="8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797966" lvl="0" marL="457200" algn="ctr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 algn="ctr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 algn="ctr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79796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66"/>
              <a:buChar char="●"/>
              <a:defRPr sz="8966">
                <a:solidFill>
                  <a:schemeClr val="dk2"/>
                </a:solidFill>
              </a:defRPr>
            </a:lvl1pPr>
            <a:lvl2pPr indent="-671441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○"/>
              <a:defRPr sz="6974">
                <a:solidFill>
                  <a:schemeClr val="dk2"/>
                </a:solidFill>
              </a:defRPr>
            </a:lvl2pPr>
            <a:lvl3pPr indent="-671441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■"/>
              <a:defRPr sz="6974">
                <a:solidFill>
                  <a:schemeClr val="dk2"/>
                </a:solidFill>
              </a:defRPr>
            </a:lvl3pPr>
            <a:lvl4pPr indent="-671441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●"/>
              <a:defRPr sz="6974">
                <a:solidFill>
                  <a:schemeClr val="dk2"/>
                </a:solidFill>
              </a:defRPr>
            </a:lvl4pPr>
            <a:lvl5pPr indent="-671441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○"/>
              <a:defRPr sz="6974">
                <a:solidFill>
                  <a:schemeClr val="dk2"/>
                </a:solidFill>
              </a:defRPr>
            </a:lvl5pPr>
            <a:lvl6pPr indent="-671441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■"/>
              <a:defRPr sz="6974">
                <a:solidFill>
                  <a:schemeClr val="dk2"/>
                </a:solidFill>
              </a:defRPr>
            </a:lvl6pPr>
            <a:lvl7pPr indent="-671441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●"/>
              <a:defRPr sz="6974">
                <a:solidFill>
                  <a:schemeClr val="dk2"/>
                </a:solidFill>
              </a:defRPr>
            </a:lvl7pPr>
            <a:lvl8pPr indent="-671441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○"/>
              <a:defRPr sz="6974">
                <a:solidFill>
                  <a:schemeClr val="dk2"/>
                </a:solidFill>
              </a:defRPr>
            </a:lvl8pPr>
            <a:lvl9pPr indent="-671441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■"/>
              <a:defRPr sz="6974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 algn="r">
              <a:buNone/>
              <a:defRPr sz="4981">
                <a:solidFill>
                  <a:schemeClr val="dk2"/>
                </a:solidFill>
              </a:defRPr>
            </a:lvl1pPr>
            <a:lvl2pPr lvl="1" algn="r">
              <a:buNone/>
              <a:defRPr sz="4981">
                <a:solidFill>
                  <a:schemeClr val="dk2"/>
                </a:solidFill>
              </a:defRPr>
            </a:lvl2pPr>
            <a:lvl3pPr lvl="2" algn="r">
              <a:buNone/>
              <a:defRPr sz="4981">
                <a:solidFill>
                  <a:schemeClr val="dk2"/>
                </a:solidFill>
              </a:defRPr>
            </a:lvl3pPr>
            <a:lvl4pPr lvl="3" algn="r">
              <a:buNone/>
              <a:defRPr sz="4981">
                <a:solidFill>
                  <a:schemeClr val="dk2"/>
                </a:solidFill>
              </a:defRPr>
            </a:lvl4pPr>
            <a:lvl5pPr lvl="4" algn="r">
              <a:buNone/>
              <a:defRPr sz="4981">
                <a:solidFill>
                  <a:schemeClr val="dk2"/>
                </a:solidFill>
              </a:defRPr>
            </a:lvl5pPr>
            <a:lvl6pPr lvl="5" algn="r">
              <a:buNone/>
              <a:defRPr sz="4981">
                <a:solidFill>
                  <a:schemeClr val="dk2"/>
                </a:solidFill>
              </a:defRPr>
            </a:lvl6pPr>
            <a:lvl7pPr lvl="6" algn="r">
              <a:buNone/>
              <a:defRPr sz="4981">
                <a:solidFill>
                  <a:schemeClr val="dk2"/>
                </a:solidFill>
              </a:defRPr>
            </a:lvl7pPr>
            <a:lvl8pPr lvl="7" algn="r">
              <a:buNone/>
              <a:defRPr sz="4981">
                <a:solidFill>
                  <a:schemeClr val="dk2"/>
                </a:solidFill>
              </a:defRPr>
            </a:lvl8pPr>
            <a:lvl9pPr lvl="8" algn="r">
              <a:buNone/>
              <a:defRPr sz="498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Diseño sin título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68"/>
            <a:ext cx="30276000" cy="4279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247800" y="36842700"/>
            <a:ext cx="1778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6000">
                <a:solidFill>
                  <a:srgbClr val="671E22"/>
                </a:solidFill>
                <a:latin typeface="Montserrat"/>
                <a:ea typeface="Montserrat"/>
                <a:cs typeface="Montserrat"/>
                <a:sym typeface="Montserrat"/>
              </a:rPr>
              <a:t>“Invertir en ciencia es construir futuro”</a:t>
            </a:r>
            <a:endParaRPr i="1" sz="6000">
              <a:solidFill>
                <a:srgbClr val="671E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828800" y="7452360"/>
            <a:ext cx="265176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C1A2A"/>
                </a:solidFill>
                <a:latin typeface="Calibri"/>
              </a:rPr>
              <a:t>Brecha de edad cerebral (BAG) en pacientes post-coma:</a:t>
            </a:r>
          </a:p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5C1A2A"/>
                </a:solidFill>
                <a:latin typeface="Calibri"/>
              </a:rPr>
              <a:t>conectividad funcional y topología de redes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8732520"/>
            <a:ext cx="2651760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4A3F42"/>
                </a:solidFill>
                <a:latin typeface="Calibri"/>
              </a:rPr>
              <a:t>Ignacio Bosch  ·  TP Final — Neurociencias Computacionales  ·  IIPSi / Facultad de Psicología — UNC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0" y="9326880"/>
            <a:ext cx="502920" cy="91440"/>
          </a:xfrm>
          <a:prstGeom prst="rect">
            <a:avLst/>
          </a:prstGeom>
          <a:solidFill>
            <a:srgbClr val="5C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0" y="9281160"/>
            <a:ext cx="126187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5C1A2A"/>
                </a:solidFill>
                <a:latin typeface="Calibri"/>
              </a:rPr>
              <a:t>INTRODUCCIÓN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0" y="9829800"/>
            <a:ext cx="13350240" cy="6035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La edad cerebral no siempre coincide con la edad cronológica. El estilo de vida, las enfermedades y cualquier evento neurológico puede acelerar o retrasar el envejecimiento del cerebro con respecto al paso del tiempo real.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Esta diferencia se conoce como brecha de edad cerebral (BAG, por sus siglas en inglés), y se obtiene comparando la edad cronológica de una persona con la edad predicha por un modelo de inteligencia artificial, a partir de patrones de conectividad cerebral.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En este trabajo aplicamos este enfoque a pacientes que atravesaron un coma por anoxia o traumatismo. A partir de datos de resonancia magnética funcional, estimamos la edad cerebral de cada paciente y calculamos su BAG, buscando caracterizar cómo el tipo de daño cerebral se refleja en el envejecimiento estimado del cerebro.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727680" y="9326880"/>
            <a:ext cx="502920" cy="91440"/>
          </a:xfrm>
          <a:prstGeom prst="rect">
            <a:avLst/>
          </a:prstGeom>
          <a:solidFill>
            <a:srgbClr val="5C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367760" y="9281160"/>
            <a:ext cx="12161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5C1A2A"/>
                </a:solidFill>
                <a:latin typeface="Calibri"/>
              </a:rPr>
              <a:t>OBJETIVO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727680" y="9829800"/>
            <a:ext cx="12801600" cy="3291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Comparar controles sanos frente a pacientes post-coma (anoxia + traumatismo unidos como un solo grupo), estimando BAG con un modelo entrenado sobre conectividad funcional y topología de la red cerebral.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Evaluamos dos diseños: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• COMA: controles y pacientes solo del dataset de coma.</a:t>
            </a:r>
          </a:p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• COMA+ReDLaT: mismos pacientes, reforzando el grupo control con controles cognitivamente sanos (CN) de ReDLaT.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727680" y="13350240"/>
            <a:ext cx="502920" cy="91440"/>
          </a:xfrm>
          <a:prstGeom prst="rect">
            <a:avLst/>
          </a:prstGeom>
          <a:solidFill>
            <a:srgbClr val="5C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367760" y="13304520"/>
            <a:ext cx="12161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5C1A2A"/>
                </a:solidFill>
                <a:latin typeface="Calibri"/>
              </a:rPr>
              <a:t>MÉTODOS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727680" y="13853160"/>
            <a:ext cx="12801600" cy="5303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Como predictores de los modelos de regresión utilizamos tanto la conectividad funcional como métricas de organización de la red cerebral (topología): eficiencia local, eficiencia global, agrupamiento y grado promedio de conexión.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Pipeline: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1) FC AAL-116 + Fisher-z.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2) Topología de red (umbral 0.20).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3) β-VAE → embedding latente Z.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4) Ridge (Z + topología + sexo → edad), evaluado por leave-one-out.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5) BAG = edad predicha − edad cronológica.</a:t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Se considera que el BAG reporta cambios en la estructura del cerebro y puede funcionar como un indicador general de su salud, con potencial para detectar alteraciones de forma temprana y ayudar a definir el diagnóstico, el pronóstico y el tratamiento más adecuado.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16184880"/>
            <a:ext cx="502920" cy="91440"/>
          </a:xfrm>
          <a:prstGeom prst="rect">
            <a:avLst/>
          </a:prstGeom>
          <a:solidFill>
            <a:srgbClr val="5C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68880" y="16139160"/>
            <a:ext cx="25877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5C1A2A"/>
                </a:solidFill>
                <a:latin typeface="Calibri"/>
              </a:rPr>
              <a:t>RESULTADOS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828800" y="16733520"/>
            <a:ext cx="13258800" cy="2194560"/>
          </a:xfrm>
          <a:prstGeom prst="roundRect">
            <a:avLst>
              <a:gd name="adj" fmla="val 4000"/>
            </a:avLst>
          </a:prstGeom>
          <a:solidFill>
            <a:srgbClr val="FBF6EF"/>
          </a:solidFill>
          <a:ln w="12700">
            <a:solidFill>
              <a:srgbClr val="D6C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5727680" y="16733520"/>
            <a:ext cx="12801600" cy="2194560"/>
          </a:xfrm>
          <a:prstGeom prst="roundRect">
            <a:avLst>
              <a:gd name="adj" fmla="val 4000"/>
            </a:avLst>
          </a:prstGeom>
          <a:solidFill>
            <a:srgbClr val="FBF6EF"/>
          </a:solidFill>
          <a:ln w="12700">
            <a:solidFill>
              <a:srgbClr val="D6CB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11680" y="16870680"/>
            <a:ext cx="12801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5C1A2A"/>
                </a:solidFill>
                <a:latin typeface="Calibri"/>
              </a:rPr>
              <a:t>Diseño A — solo COMA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11680" y="17282160"/>
            <a:ext cx="128016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n = 42  (CTRL 19 · pacientes 23)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MAE LOO = 16,9 años  (CTRL 16,4 · pacientes 17,2)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BAG medio ≈ 0 en ambos grupos (poca separación con n chico)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910559" y="16870680"/>
            <a:ext cx="12435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5C1A2A"/>
                </a:solidFill>
                <a:latin typeface="Calibri"/>
              </a:rPr>
              <a:t>Diseño B — COMA + controles ReDLaT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910559" y="17282160"/>
            <a:ext cx="1243584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n = 597  (CTRL 574 = 19 COMA + 555 CN · pacientes 23)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MAE LOO = 8,5 años  (CTRL 8,2 · pacientes 16,0)</a:t>
            </a:r>
          </a:p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2A2224"/>
                </a:solidFill>
                <a:latin typeface="Calibri"/>
              </a:rPr>
              <a:t>BAG pacientes ≈ +4,3 años  vs  CTRL ≈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0" y="19156680"/>
            <a:ext cx="13258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3F42"/>
                </a:solidFill>
                <a:latin typeface="Calibri"/>
              </a:rPr>
              <a:t>COMA — composición de la cohorte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727680" y="19156680"/>
            <a:ext cx="12801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3F42"/>
                </a:solidFill>
                <a:latin typeface="Calibri"/>
              </a:rPr>
              <a:t>COMA+ReDLaT — composición (control reforzado)</a:t>
            </a:r>
          </a:p>
        </p:txBody>
      </p:sp>
      <p:pic>
        <p:nvPicPr>
          <p:cNvPr id="77" name="Picture 76" descr="01_composi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9522440"/>
            <a:ext cx="12907336" cy="4114800"/>
          </a:xfrm>
          <a:prstGeom prst="rect">
            <a:avLst/>
          </a:prstGeom>
        </p:spPr>
      </p:pic>
      <p:pic>
        <p:nvPicPr>
          <p:cNvPr id="78" name="Picture 77" descr="01_composi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0" y="19522440"/>
            <a:ext cx="12801600" cy="3149111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828800" y="23774400"/>
            <a:ext cx="13258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3F42"/>
                </a:solidFill>
                <a:latin typeface="Calibri"/>
              </a:rPr>
              <a:t>COMA — predicción de edad, BAG y error (LOO)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727680" y="23774400"/>
            <a:ext cx="12801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3F42"/>
                </a:solidFill>
                <a:latin typeface="Calibri"/>
              </a:rPr>
              <a:t>COMA+ReDLaT — predicción de edad, BAG y error (LOO)</a:t>
            </a:r>
          </a:p>
        </p:txBody>
      </p:sp>
      <p:pic>
        <p:nvPicPr>
          <p:cNvPr id="81" name="Picture 80" descr="04_bag_m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24140160"/>
            <a:ext cx="13167360" cy="3894392"/>
          </a:xfrm>
          <a:prstGeom prst="rect">
            <a:avLst/>
          </a:prstGeom>
        </p:spPr>
      </p:pic>
      <p:pic>
        <p:nvPicPr>
          <p:cNvPr id="82" name="Picture 81" descr="04_bag_m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27680" y="24140160"/>
            <a:ext cx="12801600" cy="3786215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828800" y="28346400"/>
            <a:ext cx="132588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3F42"/>
                </a:solidFill>
                <a:latin typeface="Calibri"/>
              </a:rPr>
              <a:t>COMA — métricas topológicas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727680" y="28346400"/>
            <a:ext cx="12801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A3F42"/>
                </a:solidFill>
                <a:latin typeface="Calibri"/>
              </a:rPr>
              <a:t>COMA+ReDLaT — métricas topológicas</a:t>
            </a:r>
          </a:p>
        </p:txBody>
      </p:sp>
      <p:pic>
        <p:nvPicPr>
          <p:cNvPr id="85" name="Picture 84" descr="06_top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28712160"/>
            <a:ext cx="6797709" cy="5029200"/>
          </a:xfrm>
          <a:prstGeom prst="rect">
            <a:avLst/>
          </a:prstGeom>
        </p:spPr>
      </p:pic>
      <p:pic>
        <p:nvPicPr>
          <p:cNvPr id="86" name="Picture 85" descr="06_top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0" y="28712160"/>
            <a:ext cx="6793104" cy="50292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1828800" y="34015680"/>
            <a:ext cx="502920" cy="91440"/>
          </a:xfrm>
          <a:prstGeom prst="rect">
            <a:avLst/>
          </a:prstGeom>
          <a:solidFill>
            <a:srgbClr val="5C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468880" y="33969960"/>
            <a:ext cx="2587752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5C1A2A"/>
                </a:solidFill>
                <a:latin typeface="Calibri"/>
              </a:rPr>
              <a:t>CONCLUSIONES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28800" y="34518600"/>
            <a:ext cx="265176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2A2224"/>
                </a:solidFill>
                <a:latin typeface="Calibri"/>
              </a:rPr>
              <a:t>Con solo datos de coma, el modelo aprende con poca muestra y el MAE LOO es alto (~17 años): la señal de BAG apenas separa controles de pacientes. Al reforzar el grupo control con controles ReDLaT, la predicción de edad mejora de forma clara (MAE global ~8,5 años) y aparece una diferencia más interpretable: los pacientes post-coma muestran un BAG medio positivo (~+4 años), compatible con un envejecimiento cerebral acelerado respecto del control. El BAG, basado en conectividad funcional y topología de red, se perfila como marcador complementario para caracterizar la salud cerebral tras un evento neurológico grave.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36118800"/>
            <a:ext cx="26517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1">
                <a:solidFill>
                  <a:srgbClr val="4A3F42"/>
                </a:solidFill>
                <a:latin typeface="Calibri"/>
              </a:rPr>
              <a:t>Datos: cohorte inflamación/coma (CTRL, ANOX, TRAU) y CN ReDLaT (data-iipsi). Modelos entrenados dentro de cada diseño (sin transferir pesos entre estudios).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