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6F6B"/>
                </a:solidFill>
                <a:latin typeface="Segoe UI Semibold"/>
              </a:rPr>
              <a:t>NEUROCIENCIAS COMPUTACIONALES · TP FINAL · POSGRADO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F5F3EE"/>
                </a:solidFill>
                <a:latin typeface="Segoe UI Light"/>
              </a:rPr>
              <a:t>BAGs, topologia y criticalidad</a:t>
            </a:r>
          </a:p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F5F3EE"/>
                </a:solidFill>
                <a:latin typeface="Segoe UI Light"/>
              </a:rPr>
              <a:t>en Alzheimer y Demencia frontotemporal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86200"/>
            <a:ext cx="2926080" cy="1905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C9CECF"/>
                </a:solidFill>
                <a:latin typeface="Segoe UI"/>
              </a:rPr>
              <a:t>Cohorte latinoamericana ReDLaT–BrainLat  ·  n = 1245  (CN / AD / FTD)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C9CECF"/>
                </a:solidFill>
                <a:latin typeface="Segoe UI"/>
              </a:rPr>
              <a:t>fMRI reposo (AAL-116) + T1w (VBM) + β-VAE + teoria de grafos + criticalidad espectral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5F3EE"/>
                </a:solidFill>
                <a:latin typeface="Segoe UI Semibold"/>
              </a:rPr>
              <a:t>Ignacio Manuel Bosch   ·   nachobosch5@gmail.com   · 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CONTEXTO Y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Que problema y que extendemos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4A5259"/>
                </a:solidFill>
                <a:latin typeface="Segoe UI"/>
              </a:rPr>
              <a:t>—  AD y FTD: carga creciente en paises de ingresos bajos/medios (&gt;70% casos futuros).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4A5259"/>
                </a:solidFill>
                <a:latin typeface="Segoe UI"/>
              </a:rPr>
              <a:t>—  America Latina: sub-representada en neuroimagen a gran escala.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36976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4A5259"/>
                </a:solidFill>
                <a:latin typeface="Segoe UI"/>
              </a:rPr>
              <a:t>—  Brain Age Gap (BAG) = edad cerebral estimada − edad cronologica.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4A5259"/>
                </a:solidFill>
                <a:latin typeface="Segoe UI"/>
              </a:rPr>
              <a:t>—  BAG+ se asocia a deterioro cognitivo y menor reserva.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25B3F"/>
                </a:solidFill>
                <a:latin typeface="Segoe UI Semibold"/>
              </a:rPr>
              <a:t>ESTE TRABAJO EXTIENDE LA TESIS DE REFERENCIA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121408"/>
            <a:ext cx="5193792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2402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Ligh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2128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Replica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5420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Pipeline multimodal β-VAE con Fisher-z; Ridge, SVR, XGB, MLP.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072384"/>
            <a:ext cx="5193792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191256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Light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16382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Topologia (TOPO)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4930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6 metricas de grafos al vector multimodal → modelos hibridos.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023360"/>
            <a:ext cx="5193792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14223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Light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114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BAG ↔ topologia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44398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Comparacion BAG+ vs BAG− y correlacion con MMSE.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974336"/>
            <a:ext cx="5193792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509320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Light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06577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Mundo pequeno + criticalidad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394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σ/ω, λ₁ espectral, avalanchas, percolacion.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METODOS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Pipeline multimodal de edad cerebral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99942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1999427" cy="82296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42032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FC  116×116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63240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Pearson → Fisher-z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6670 conexiones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1219" y="27889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Semibold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8107" y="2331720"/>
            <a:ext cx="199942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8107" y="2331720"/>
            <a:ext cx="1999427" cy="82296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7835" y="2542032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β-VAE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7835" y="3063240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embeddings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Z ∈ R⁶⁴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9246" y="27889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Semibold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6134" y="2331720"/>
            <a:ext cx="199942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6134" y="2331720"/>
            <a:ext cx="1999427" cy="82296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5862" y="2542032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5862" y="3063240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Z + T1w(VBM) + sexo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+ TOPO + educ. + sitio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273" y="27889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Semibol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161" y="2331720"/>
            <a:ext cx="199942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4161" y="2331720"/>
            <a:ext cx="1999427" cy="82296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3889" y="2542032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Regresores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3889" y="3063240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Ridge · SVR · XGB · MLP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HP post-Optuna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5300" y="27889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2E6F6B"/>
                </a:solidFill>
                <a:latin typeface="Segoe UI Semibold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2188" y="2331720"/>
            <a:ext cx="199942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2188" y="2331720"/>
            <a:ext cx="1999427" cy="82296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1916" y="2542032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20262B"/>
                </a:solidFill>
                <a:latin typeface="Segoe UI Semibold"/>
              </a:rPr>
              <a:t>BAG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1916" y="3063240"/>
            <a:ext cx="17799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entrenado en CN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4A5259"/>
                </a:solidFill>
                <a:latin typeface="Segoe UI"/>
              </a:rPr>
              <a:t>correccion LOSO por sitio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DECISIONES CLAVE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59"/>
                </a:solidFill>
                <a:latin typeface="Segoe UI"/>
              </a:rPr>
              <a:t>—  Umbral fijo Fisher-z = 0.20 para grafos · umbral proporcional 10% para criticalidad.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59"/>
                </a:solidFill>
                <a:latin typeface="Segoe UI"/>
              </a:rPr>
              <a:t>—  Holdout 90/10 estratificado (sexo × diagnostico); efectos de sitio fuertes (Kruskal-Wallis p&lt;0.001) → sitio como covariable.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59"/>
                </a:solidFill>
                <a:latin typeface="Segoe UI"/>
              </a:rPr>
              <a:t>—  Se reutilizan HP post-Optuna de la referencia de forma uniforme (sin re-busqueda por configuracion).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Cohorte y demografia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5852158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36502"/>
                <a:gridCol w="928914"/>
                <a:gridCol w="928914"/>
                <a:gridCol w="928914"/>
                <a:gridCol w="92891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3EE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3EE"/>
                          </a:solidFill>
                          <a:latin typeface="Segoe UI"/>
                        </a:rPr>
                        <a:t>CN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3EE"/>
                          </a:solidFill>
                          <a:latin typeface="Segoe UI"/>
                        </a:rPr>
                        <a:t>AD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3EE"/>
                          </a:solidFill>
                          <a:latin typeface="Segoe UI"/>
                        </a:rPr>
                        <a:t>FTD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3EE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555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468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1327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Edad (media ± DE)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63.3 ± 11.4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70.0 ± 8.5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65.3 ± 8.3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65.9 ± 10.5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Sitios con datos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0262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40080" y="4206240"/>
            <a:ext cx="146304" cy="146304"/>
          </a:xfrm>
          <a:prstGeom prst="ellipse">
            <a:avLst/>
          </a:prstGeom>
          <a:solidFill>
            <a:srgbClr val="2E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169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59"/>
                </a:solidFill>
                <a:latin typeface="Segoe UI Semibold"/>
              </a:rPr>
              <a:t>CN</a:t>
            </a:r>
          </a:p>
        </p:txBody>
      </p:sp>
      <p:sp>
        <p:nvSpPr>
          <p:cNvPr id="12" name="Oval 11"/>
          <p:cNvSpPr/>
          <p:nvPr/>
        </p:nvSpPr>
        <p:spPr>
          <a:xfrm>
            <a:off x="1600200" y="4206240"/>
            <a:ext cx="146304" cy="146304"/>
          </a:xfrm>
          <a:prstGeom prst="ellipse">
            <a:avLst/>
          </a:prstGeom>
          <a:solidFill>
            <a:srgbClr val="C2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1368" y="4169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59"/>
                </a:solidFill>
                <a:latin typeface="Segoe UI Semibold"/>
              </a:rPr>
              <a:t>AD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4206240"/>
            <a:ext cx="146304" cy="146304"/>
          </a:xfrm>
          <a:prstGeom prst="ellipse">
            <a:avLst/>
          </a:prstGeom>
          <a:solidFill>
            <a:srgbClr val="D8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4169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59"/>
                </a:solidFill>
                <a:latin typeface="Segoe UI Semibold"/>
              </a:rPr>
              <a:t>FTD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Diferencias de edad entre grupos (Kruskal-Wallis, p&lt;0.001); AD el grupo mas anoso.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9 sitios; efectos de sitio sobre edad (H=312.4) y educacion (H=287.1), p&lt;0.001.</a:t>
            </a:r>
          </a:p>
        </p:txBody>
      </p:sp>
      <p:pic>
        <p:nvPicPr>
          <p:cNvPr id="17" name="Picture 16" descr="01_ag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03120"/>
            <a:ext cx="5029200" cy="179614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66560" y="18288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59"/>
                </a:solidFill>
                <a:latin typeface="Segoe UI Semibold"/>
              </a:rPr>
              <a:t>Distribucion de edad por grupo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TOPOLOGIA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Seis metricas de grafos por diagnostico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5120638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85554"/>
                <a:gridCol w="1045028"/>
                <a:gridCol w="1045028"/>
                <a:gridCol w="104502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Metrica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CN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AD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FTD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E local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0.861 ± .057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0.849 ± .049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0.858 ± .058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E global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0.763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0.744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0.755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Clustering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0.726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0.694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0.714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E local FP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0.861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0.847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0.861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Grado FP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0.599 ± .19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0.548 ± .17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0.575 ± .19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572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AD se desplaza a valores menores en todas las metricas (eficiencias, clustering, hubs FP).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Umbral Fisher-z = 0.20.</a:t>
            </a:r>
          </a:p>
        </p:txBody>
      </p:sp>
      <p:pic>
        <p:nvPicPr>
          <p:cNvPr id="11" name="Picture 10" descr="02_graph_metrics_by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566928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PREDICCION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Replica de la referencia y ablacion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REFERENCIA vs REPLICA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920240"/>
          <a:ext cx="5486398" cy="19019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00996"/>
                <a:gridCol w="590843"/>
                <a:gridCol w="759655"/>
                <a:gridCol w="759655"/>
                <a:gridCol w="67524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Configuracion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r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62B"/>
                          </a:solidFill>
                          <a:latin typeface="Segoe UI"/>
                        </a:rPr>
                        <a:t>Ref.: Z+T1w+educ+sitio (XGB+Optuna)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0262B"/>
                          </a:solidFill>
                          <a:latin typeface="Segoe UI"/>
                        </a:rPr>
                        <a:t>91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0262B"/>
                          </a:solidFill>
                          <a:latin typeface="Segoe UI"/>
                        </a:rPr>
                        <a:t>5.17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0262B"/>
                          </a:solidFill>
                          <a:latin typeface="Segoe UI"/>
                        </a:rPr>
                        <a:t>.523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0262B"/>
                          </a:solidFill>
                          <a:latin typeface="Segoe UI"/>
                        </a:rPr>
                        <a:t>.725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Este trabajo: Z+T1w+educ+sitio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91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5.54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.473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.693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Este trabajo: Z+T1w+sexo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5.88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.407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.640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ABLACION DE CARACTERISTICAS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480560"/>
          <a:ext cx="548640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Config.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Dims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F3EE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T1w solo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116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5.85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.385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Z solo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7.11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.102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Z + T1w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180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5.79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.417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Z + T1w + sexo + dx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182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5.74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62B"/>
                          </a:solidFill>
                          <a:latin typeface="Segoe UI"/>
                        </a:rPr>
                        <a:t>.419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25B3F"/>
                </a:solidFill>
                <a:latin typeface="Segoe UI Semibold"/>
              </a:rPr>
              <a:t>LECTURA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20262B"/>
                </a:solidFill>
                <a:latin typeface="Segoe UI Light"/>
              </a:rPr>
              <a:t>≈5.5–5.9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221992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A5259"/>
                </a:solidFill>
                <a:latin typeface="Segoe UI"/>
              </a:rPr>
              <a:t>MAE de la replica en holdout, mismo orden que la referencia (5.17).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20262B"/>
                </a:solidFill>
                <a:latin typeface="Segoe UI Light"/>
              </a:rPr>
              <a:t>5.79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456432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A5259"/>
                </a:solidFill>
                <a:latin typeface="Segoe UI"/>
              </a:rPr>
              <a:t>Z + T1w confirma complementariedad conectividad ⊕ morfometria.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17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20262B"/>
                </a:solidFill>
                <a:latin typeface="Segoe UI Light"/>
              </a:rPr>
              <a:t>7.11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690872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A5259"/>
                </a:solidFill>
                <a:latin typeface="Segoe UI"/>
              </a:rPr>
              <a:t>Z solo es el peor predictor; T1w solo ya da 5.85.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PREDICCION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Topologia hibrida → mejor modelo del estudio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APORTE DE TOPO (sobre Z+T1w+sexo)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920240"/>
          <a:ext cx="5394959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90157"/>
                <a:gridCol w="867047"/>
                <a:gridCol w="867047"/>
                <a:gridCol w="77070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Configuracion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r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TOPO sola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8.21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−0.22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.098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Z + T1w + sexo  (base)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5.88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.407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.640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Z + T1w + sexo + TOPO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5.76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.412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.646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97763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25B3F"/>
                </a:solidFill>
                <a:latin typeface="Segoe UI Semibold"/>
              </a:rPr>
              <a:t>MODELO HIBRIDO COMPLETO   Z+T1w+sexo+TOPO+educ+sitio  (n=91, 197 feats)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343400"/>
          <a:ext cx="5394959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90157"/>
                <a:gridCol w="867047"/>
                <a:gridCol w="867047"/>
                <a:gridCol w="77070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Regresor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r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Ridge  (mejor global)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5.06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.536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.736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SVR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5.13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.547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.742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XGBoost (HP unicos)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5.44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.488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.705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Referencia (sin TOPO)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5.17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.523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.725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0" y="1828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0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933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RIDGE HIBRIDO · MAE EN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860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F5F3EE"/>
                </a:solidFill>
                <a:latin typeface="Segoe UI Light"/>
              </a:rPr>
              <a:t>5.06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514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C9CECF"/>
                </a:solidFill>
                <a:latin typeface="Segoe UI"/>
              </a:rPr>
              <a:t>anos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C9CECF"/>
                </a:solidFill>
                <a:latin typeface="Segoe UI"/>
              </a:rPr>
              <a:t>R² = 0.54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1012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89A3E"/>
                </a:solidFill>
                <a:latin typeface="Segoe UI Semibold"/>
              </a:rPr>
              <a:t>▼ 0.11 anos bajo la mejor cifra de la referencia (5.17, sin TOPO)</a:t>
            </a:r>
          </a:p>
        </p:txBody>
      </p:sp>
      <p:pic>
        <p:nvPicPr>
          <p:cNvPr id="18" name="Picture 17" descr="06_test_scatter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886200"/>
            <a:ext cx="2468880" cy="2468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6080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4A5259"/>
                </a:solidFill>
                <a:latin typeface="Segoe UI"/>
              </a:rPr>
              <a:t>MLP (3 capas densas): MAE 8.3, R²&lt;0 → sobreajuste; se prefieren modelos lineales/kernel en este regimen.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BAG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Brain Age Gap: diagnostico y topologia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BAG MEDIO POR DIAGNOSTICO (corregido)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1691640" cy="73152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6F6B"/>
                </a:solidFill>
                <a:latin typeface="Segoe UI Semibold"/>
              </a:rPr>
              <a:t>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0262B"/>
                </a:solidFill>
                <a:latin typeface="Segoe UI Light"/>
              </a:rPr>
              <a:t>1.70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0779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5259"/>
                </a:solidFill>
                <a:latin typeface="Segoe UI"/>
              </a:rPr>
              <a:t>anos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196596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1965960"/>
            <a:ext cx="1691640" cy="73152"/>
          </a:xfrm>
          <a:prstGeom prst="rect">
            <a:avLst/>
          </a:prstGeom>
          <a:solidFill>
            <a:srgbClr val="C2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1031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25B3F"/>
                </a:solidFill>
                <a:latin typeface="Segoe UI Semibold"/>
              </a:rPr>
              <a:t>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39572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0262B"/>
                </a:solidFill>
                <a:latin typeface="Segoe UI Light"/>
              </a:rPr>
              <a:t>11.58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90779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5259"/>
                </a:solidFill>
                <a:latin typeface="Segoe UI"/>
              </a:rPr>
              <a:t>anos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96596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965960"/>
            <a:ext cx="1691640" cy="73152"/>
          </a:xfrm>
          <a:prstGeom prst="rect">
            <a:avLst/>
          </a:prstGeom>
          <a:solidFill>
            <a:srgbClr val="D8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1031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D89A3E"/>
                </a:solidFill>
                <a:latin typeface="Segoe UI Semibold"/>
              </a:rPr>
              <a:t>FTD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9572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0262B"/>
                </a:solidFill>
                <a:latin typeface="Segoe UI Light"/>
              </a:rPr>
              <a:t>13.93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90779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5259"/>
                </a:solidFill>
                <a:latin typeface="Segoe UI"/>
              </a:rPr>
              <a:t>anos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8328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25B3F"/>
                </a:solidFill>
                <a:latin typeface="Segoe UI Semibold"/>
              </a:rPr>
              <a:t>BAG+ vs BAG−   (Mann-Whitney U, FDR-BH)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" y="3749039"/>
          <a:ext cx="5760719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91242"/>
                <a:gridCol w="1086928"/>
                <a:gridCol w="1086928"/>
                <a:gridCol w="119562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Metrica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BAG+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BAG−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p(FDR)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E local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0.868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0.856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0.021 *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E global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0.773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0.756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0.039 *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Clustering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0.741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0.718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0.021 *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E local FP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0.866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0.856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62B"/>
                          </a:solidFill>
                          <a:latin typeface="Segoe UI"/>
                        </a:rPr>
                        <a:t>0.039 *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Betweenness FP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0.0048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0.0051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0.126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Grado FP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0.612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0.588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0.126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08_topology_BAG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50292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75120" y="5669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4A5259"/>
                </a:solidFill>
                <a:latin typeface="Segoe UI"/>
              </a:rPr>
              <a:t>Direccion positiva (mas eficiencia en BAG+) coherente con artefacto de umbral fijo: mayor FC → grafos mas densos.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BAG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Asociacion con cognicion (MMSE)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CORRELACION PARCIAL SPEARMAN  topologia ↔ MMSE  (control edad+educ, n=916)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03120"/>
          <a:ext cx="4754879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64228"/>
                <a:gridCol w="1132114"/>
                <a:gridCol w="135853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5F3EE"/>
                          </a:solidFill>
                          <a:latin typeface="Segoe UI"/>
                        </a:rPr>
                        <a:t>Metrica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5F3EE"/>
                          </a:solidFill>
                          <a:latin typeface="Segoe UI"/>
                        </a:rPr>
                        <a:t>r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5F3EE"/>
                          </a:solidFill>
                          <a:latin typeface="Segoe UI"/>
                        </a:rPr>
                        <a:t>p(FDR)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Grado FP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0.104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0.010 *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E global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0.086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0.019 *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E local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0.082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0262B"/>
                          </a:solidFill>
                          <a:latin typeface="Segoe UI"/>
                        </a:rPr>
                        <a:t>0.019 *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2976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Asociaciones positivas pero debiles (r≈0.08–0.10).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Regresion multiple TOPO ~ BAG+covariables: solo grado FP marginal con BAG (β=−0.0019, p=0.037, FDR=0.22).</a:t>
            </a:r>
          </a:p>
        </p:txBody>
      </p:sp>
      <p:pic>
        <p:nvPicPr>
          <p:cNvPr id="12" name="Picture 11" descr="08_topo_mmse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94560"/>
            <a:ext cx="576072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MUNDO PEQUENO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Small-worldness vs referencias WS y 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5577837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7193"/>
                <a:gridCol w="1072661"/>
                <a:gridCol w="1072661"/>
                <a:gridCol w="1072661"/>
                <a:gridCol w="107266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Grupo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σ WS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ω WS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σ ER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ω ER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CN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1.187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0.077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1.467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0.076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AD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1.221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0.086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1.510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0.085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FTD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1.092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0.028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1.305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0.027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40080" y="4023360"/>
            <a:ext cx="146304" cy="146304"/>
          </a:xfrm>
          <a:prstGeom prst="ellipse">
            <a:avLst/>
          </a:prstGeom>
          <a:solidFill>
            <a:srgbClr val="2E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86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59"/>
                </a:solidFill>
                <a:latin typeface="Segoe UI Semibold"/>
              </a:rPr>
              <a:t>CN</a:t>
            </a:r>
          </a:p>
        </p:txBody>
      </p:sp>
      <p:sp>
        <p:nvSpPr>
          <p:cNvPr id="12" name="Oval 11"/>
          <p:cNvSpPr/>
          <p:nvPr/>
        </p:nvSpPr>
        <p:spPr>
          <a:xfrm>
            <a:off x="1600200" y="4023360"/>
            <a:ext cx="146304" cy="146304"/>
          </a:xfrm>
          <a:prstGeom prst="ellipse">
            <a:avLst/>
          </a:prstGeom>
          <a:solidFill>
            <a:srgbClr val="C2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1368" y="3986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59"/>
                </a:solidFill>
                <a:latin typeface="Segoe UI Semibold"/>
              </a:rPr>
              <a:t>AD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4023360"/>
            <a:ext cx="146304" cy="146304"/>
          </a:xfrm>
          <a:prstGeom prst="ellipse">
            <a:avLst/>
          </a:prstGeom>
          <a:solidFill>
            <a:srgbClr val="D8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39867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59"/>
                </a:solidFill>
                <a:latin typeface="Segoe UI Semibold"/>
              </a:rPr>
              <a:t>FTD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σ&gt;1 en TODOS los grupos y ambas referencias → small-world robusto.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σ sin diferencias entre grupos (KW p&gt;0.10).  ω SI difiere (KW p≈0.03):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FTD con ω menor que CN y AD (post-hoc FDR&lt;0.05) → mas aleatorio.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n=30 (10/grupo, estratificado por sitio), N_ref=20.</a:t>
            </a:r>
          </a:p>
        </p:txBody>
      </p:sp>
      <p:pic>
        <p:nvPicPr>
          <p:cNvPr id="17" name="Picture 16" descr="08_sw_by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394960" cy="1546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CRITICALIDAD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Autovalor maximo λ₁ y rango dinamico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5029198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1965"/>
                <a:gridCol w="1530626"/>
                <a:gridCol w="1202634"/>
                <a:gridCol w="98397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Grupo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λ₁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λ₁ norm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CN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20.96 ± 3.1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1.69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526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0262B"/>
                          </a:solidFill>
                          <a:latin typeface="Segoe UI"/>
                        </a:rPr>
                        <a:t>AD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262B"/>
                          </a:solidFill>
                          <a:latin typeface="Segoe UI"/>
                        </a:rPr>
                        <a:t>20.09 ± 2.6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262B"/>
                          </a:solidFill>
                          <a:latin typeface="Segoe UI"/>
                        </a:rPr>
                        <a:t>1.62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262B"/>
                          </a:solidFill>
                          <a:latin typeface="Segoe UI"/>
                        </a:rPr>
                        <a:t>422</a:t>
                      </a:r>
                    </a:p>
                  </a:txBody>
                  <a:tcPr marL="91440" marR="73152" marT="18288" marB="18288" anchor="ctr">
                    <a:solidFill>
                      <a:srgbClr val="E9E3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FTD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20.98 ± 3.0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1.69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297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25B3F"/>
                </a:solidFill>
                <a:latin typeface="Segoe UI Semibold"/>
              </a:rPr>
              <a:t>KRUSKAL-WALLIS   H = 21.35,  p = 2.3·10⁻⁵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Post-hoc FDR-BH: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•  AD &lt; CN   (p_FDR = 0.00014)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•  AD &lt; FTD  (p_FDR = 0.00014)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•  CN = FTD  (p_FDR = 0.81)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Rango dinamico (matrices promedio): AD el mayor (17.46 dB) pese a menor λ₁ → red promedio menos supercritica.</a:t>
            </a:r>
          </a:p>
        </p:txBody>
      </p:sp>
      <p:pic>
        <p:nvPicPr>
          <p:cNvPr id="12" name="Picture 11" descr="08_crit_lambd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94560"/>
            <a:ext cx="5760720" cy="1655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CRITICALIDAD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Avalanchas neuronales y ramificacion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6035039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905256"/>
                <a:gridCol w="905256"/>
                <a:gridCol w="905256"/>
                <a:gridCol w="231343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Grupo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⟨s⟩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α(s)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α(T)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σ_br  [IC95%]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CN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2.97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2.01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2.39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0.663 [.659,.667]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AD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2.70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2.12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2.51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0.630 [.626,.634]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FTD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2.91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2.02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2.40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62B"/>
                          </a:solidFill>
                          <a:latin typeface="Segoe UI"/>
                        </a:rPr>
                        <a:t>0.657 [.653,.661]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02336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Simulacion 50 000 avalanchas, p = 1/λ₁(CN) ≈ 0.049 (fija).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α(s) &gt; 2 en los tres grupos (sobre el 1.5 de campo medio).</a:t>
            </a:r>
          </a:p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σ_br &lt; 1 → regimen SUBCRITICO bajo esa p. AD: menor ⟨s⟩ y mayor α(s).</a:t>
            </a:r>
          </a:p>
        </p:txBody>
      </p:sp>
      <p:pic>
        <p:nvPicPr>
          <p:cNvPr id="11" name="Picture 10" descr="08_crit_avalanch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86000"/>
            <a:ext cx="5029200" cy="12949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6400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6F6B"/>
                </a:solidFill>
                <a:latin typeface="Segoe UI Semibold"/>
              </a:rPr>
              <a:t>RESULTADOS · CRITICALIDAD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20262B"/>
                </a:solidFill>
                <a:latin typeface="Segoe UI Semibold"/>
              </a:rPr>
              <a:t>Percolacion y robustez al umbral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270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"/>
              </a:rPr>
              <a:t>BAGs, topologia y criticalidad  ·  AD / FTD / 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59"/>
                </a:solidFill>
                <a:latin typeface="Segoe UI Semibold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6F6B"/>
                </a:solidFill>
                <a:latin typeface="Segoe UI Semibold"/>
              </a:rPr>
              <a:t>PERCOLACION  (n=30, 10/grupo)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011680"/>
          <a:ext cx="438912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6736"/>
                <a:gridCol w="1536192"/>
                <a:gridCol w="153619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Grupo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pico χ (%)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5F3EE"/>
                          </a:solidFill>
                          <a:latin typeface="Segoe UI"/>
                        </a:rPr>
                        <a:t>Tc medio (%)</a:t>
                      </a:r>
                    </a:p>
                  </a:txBody>
                  <a:tcPr marL="91440" marR="73152" marT="18288" marB="18288" anchor="ctr">
                    <a:solidFill>
                      <a:srgbClr val="20262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CN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1.8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2.7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AD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2.8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2.1</a:t>
                      </a:r>
                    </a:p>
                  </a:txBody>
                  <a:tcPr marL="91440" marR="73152" marT="18288" marB="18288" anchor="ctr">
                    <a:solidFill>
                      <a:srgbClr val="F5F3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FTD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3.0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62B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9319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A5259"/>
                </a:solidFill>
                <a:latin typeface="Segoe UI"/>
              </a:rPr>
              <a:t>Sin diferencias significativas entre grupos en S2_peak, χ_peak ni Tc (KW p&gt;0.24). Alta variabilidad intra-grupo.</a:t>
            </a:r>
          </a:p>
        </p:txBody>
      </p:sp>
      <p:pic>
        <p:nvPicPr>
          <p:cNvPr id="12" name="Picture 11" descr="08_crit_perco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5120640" cy="14698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1645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25B3F"/>
                </a:solidFill>
                <a:latin typeface="Segoe UI Semibold"/>
              </a:rPr>
              <a:t>SENSIBILIDAD DE λ₁ AL UMBRAL (2–20%)</a:t>
            </a:r>
          </a:p>
        </p:txBody>
      </p:sp>
      <p:pic>
        <p:nvPicPr>
          <p:cNvPr id="14" name="Picture 13" descr="08_crit_sensibi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5394960" cy="31982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58064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4A5259"/>
                </a:solidFill>
                <a:latin typeface="Segoe UI"/>
              </a:rPr>
              <a:t>AD por debajo de CN y FTD en TODO el rango, sin cruzarse. CN≈FTD en cada punto.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6F6B"/>
                </a:solidFill>
                <a:latin typeface="Segoe UI Semibold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5F3EE"/>
                </a:solidFill>
                <a:latin typeface="Segoe UI Light"/>
              </a:rPr>
              <a:t>Que aprendimos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10515600" cy="1024128"/>
          </a:xfrm>
          <a:prstGeom prst="rect">
            <a:avLst/>
          </a:prstGeom>
          <a:solidFill>
            <a:srgbClr val="2A3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54864" cy="102412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56816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5F3EE"/>
                </a:solidFill>
                <a:latin typeface="Segoe UI Light"/>
              </a:rPr>
              <a:t>5.06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47672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89A3E"/>
                </a:solidFill>
                <a:latin typeface="Segoe UI Semibold"/>
              </a:rPr>
              <a:t>anos 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947672"/>
            <a:ext cx="5577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2D6D7"/>
                </a:solidFill>
                <a:latin typeface="Segoe UI"/>
              </a:rPr>
              <a:t>Ridge hibrido (Z+T1w+sexo+TOPO+educ+sitio) supera la referencia (5.17). TOPO sola predice mal (~8.2) pero suma integrada.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944368"/>
            <a:ext cx="10515600" cy="1024128"/>
          </a:xfrm>
          <a:prstGeom prst="rect">
            <a:avLst/>
          </a:prstGeom>
          <a:solidFill>
            <a:srgbClr val="2A3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944368"/>
            <a:ext cx="54864" cy="102412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72384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5F3EE"/>
                </a:solidFill>
                <a:latin typeface="Segoe UI Light"/>
              </a:rPr>
              <a:t>FDR&lt;.05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6324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89A3E"/>
                </a:solidFill>
                <a:latin typeface="Segoe UI Semibold"/>
              </a:rPr>
              <a:t>BAG ↔ topologia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063240"/>
            <a:ext cx="5577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2D6D7"/>
                </a:solidFill>
                <a:latin typeface="Segoe UI"/>
              </a:rPr>
              <a:t>BAG separa diagnosticos (CN≈1.7 vs AD/FTD≈12). BAG+ con mayor eficiencia/clustering (efecto de umbral fijo a considerar).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059936"/>
            <a:ext cx="10515600" cy="1024128"/>
          </a:xfrm>
          <a:prstGeom prst="rect">
            <a:avLst/>
          </a:prstGeom>
          <a:solidFill>
            <a:srgbClr val="2A3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059936"/>
            <a:ext cx="54864" cy="102412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5F3EE"/>
                </a:solidFill>
                <a:latin typeface="Segoe UI Light"/>
              </a:rPr>
              <a:t>σ&gt;1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78808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89A3E"/>
                </a:solidFill>
                <a:latin typeface="Segoe UI Semibold"/>
              </a:rPr>
              <a:t>mundo pequeno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178808"/>
            <a:ext cx="5577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2D6D7"/>
                </a:solidFill>
                <a:latin typeface="Segoe UI"/>
              </a:rPr>
              <a:t>Small-world robusto en todos los grupos (WS y ER). FTD con ω menor → mas aleatorio.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175504"/>
            <a:ext cx="10515600" cy="1024128"/>
          </a:xfrm>
          <a:prstGeom prst="rect">
            <a:avLst/>
          </a:prstGeom>
          <a:solidFill>
            <a:srgbClr val="2A3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5175504"/>
            <a:ext cx="54864" cy="1024128"/>
          </a:xfrm>
          <a:prstGeom prst="rect">
            <a:avLst/>
          </a:prstGeom>
          <a:solidFill>
            <a:srgbClr val="2E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5F3EE"/>
                </a:solidFill>
                <a:latin typeface="Segoe UI Light"/>
              </a:rPr>
              <a:t>AD↓λ₁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94376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89A3E"/>
                </a:solidFill>
                <a:latin typeface="Segoe UI Semibold"/>
              </a:rPr>
              <a:t>criticalidad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5294376"/>
            <a:ext cx="5577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2D6D7"/>
                </a:solidFill>
                <a:latin typeface="Segoe UI"/>
              </a:rPr>
              <a:t>AD con λ₁ menor que CN y FTD (p_FDR&lt;0.001), estable 2–20%. Regimen subcritico (σ_br&lt;1, α&gt;2). Percolacion sin diferencias.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