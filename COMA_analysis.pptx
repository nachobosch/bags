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27432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99CE8"/>
                </a:solidFill>
                <a:latin typeface="Segoe UI"/>
              </a:rPr>
              <a:t>ANÁLISIS DE REDES EN COMA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194560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CEAF2"/>
                </a:solidFill>
                <a:latin typeface="Segoe UI"/>
              </a:rPr>
              <a:t>Criticalidad, Percolación y Mundo Pequeño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9A95B0"/>
                </a:solidFill>
                <a:latin typeface="Segoe UI"/>
              </a:rPr>
              <a:t>Control · Anoxia · Traumatismo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95B0"/>
                </a:solidFill>
                <a:latin typeface="Segoe UI"/>
              </a:rPr>
              <a:t>Cohorte fMRI · 62 → 42 sujetos reales · 116 regiones AAL · conectividad funcional (Fisher-z)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600200" cy="384048"/>
          </a:xfrm>
          <a:prstGeom prst="rect">
            <a:avLst/>
          </a:prstGeom>
          <a:solidFill>
            <a:srgbClr val="5427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965192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CEAF2"/>
                </a:solidFill>
                <a:latin typeface="Segoe UI"/>
              </a:rPr>
              <a:t>CTRL n=19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4937760"/>
            <a:ext cx="1600200" cy="384048"/>
          </a:xfrm>
          <a:prstGeom prst="rect">
            <a:avLst/>
          </a:prstGeom>
          <a:solidFill>
            <a:srgbClr val="807D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4965192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CEAF2"/>
                </a:solidFill>
                <a:latin typeface="Segoe UI"/>
              </a:rPr>
              <a:t>ANOX n=9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4937760"/>
            <a:ext cx="1600200" cy="384048"/>
          </a:xfrm>
          <a:prstGeom prst="rect">
            <a:avLst/>
          </a:prstGeom>
          <a:solidFill>
            <a:srgbClr val="997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965192"/>
            <a:ext cx="160020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ECEAF2"/>
                </a:solidFill>
                <a:latin typeface="Segoe UI"/>
              </a:rPr>
              <a:t>TRAU n=14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MARCO CONCEPTUAL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Coma, conectividad y el borde del caos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B99CE8"/>
                </a:solidFill>
                <a:latin typeface="Segoe UI"/>
              </a:rPr>
              <a:t>El coma como desconexión de red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AF2"/>
                </a:solidFill>
                <a:latin typeface="Segoe UI"/>
              </a:rPr>
              <a:t>El coma no es 'apagado' local sino un colapso de la </a:t>
            </a:r>
            <a:r>
              <a:rPr sz="1400" b="1">
                <a:solidFill>
                  <a:srgbClr val="B99CE8"/>
                </a:solidFill>
                <a:latin typeface="Segoe UI"/>
              </a:rPr>
              <a:t>integración global</a:t>
            </a:r>
            <a:r>
              <a:rPr sz="1400" b="0">
                <a:solidFill>
                  <a:srgbClr val="ECEAF2"/>
                </a:solidFill>
                <a:latin typeface="Segoe UI"/>
              </a:rPr>
              <a:t> de la red cerebral. Los hubs se reorganizan de forma radical y la topología pierde eficiencia (Achard et al., 2012).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B99CE8"/>
                </a:solidFill>
                <a:latin typeface="Segoe UI"/>
              </a:rPr>
              <a:t>La hipótesis de criticalidad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AF2"/>
                </a:solidFill>
                <a:latin typeface="Segoe UI"/>
              </a:rPr>
              <a:t>El cerebro consciente operaría cerca de un </a:t>
            </a:r>
            <a:r>
              <a:rPr sz="1400" b="1">
                <a:solidFill>
                  <a:srgbClr val="B99CE8"/>
                </a:solidFill>
                <a:latin typeface="Segoe UI"/>
              </a:rPr>
              <a:t>punto crítico</a:t>
            </a:r>
            <a:r>
              <a:rPr sz="1400" b="0">
                <a:solidFill>
                  <a:srgbClr val="ECEAF2"/>
                </a:solidFill>
                <a:latin typeface="Segoe UI"/>
              </a:rPr>
              <a:t> (borde orden–caos) que maximiza transmisión y rango dinámico de información (Beggs &amp; Plenz, 2003; Kinouchi &amp; Copelli, 2006). La pérdida de conciencia se asocia a alejarse de ese punto (Tagliazucchi 2016; Toker 2022).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737360"/>
            <a:ext cx="3794760" cy="3840480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920240"/>
            <a:ext cx="329184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99CE8"/>
                </a:solidFill>
                <a:latin typeface="Segoe UI"/>
              </a:rPr>
              <a:t>Qué mediremos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λ₁</a:t>
            </a:r>
            <a:r>
              <a:rPr sz="1200" b="0">
                <a:solidFill>
                  <a:srgbClr val="ECEAF2"/>
                </a:solidFill>
                <a:latin typeface="Segoe UI"/>
              </a:rPr>
              <a:t>  autovalor máx. → sub/supercrítico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α(s)</a:t>
            </a:r>
            <a:r>
              <a:rPr sz="1200" b="0">
                <a:solidFill>
                  <a:srgbClr val="ECEAF2"/>
                </a:solidFill>
                <a:latin typeface="Segoe UI"/>
              </a:rPr>
              <a:t>  exponente de avalanchas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σ_br</a:t>
            </a:r>
            <a:r>
              <a:rPr sz="1200" b="0">
                <a:solidFill>
                  <a:srgbClr val="ECEAF2"/>
                </a:solidFill>
                <a:latin typeface="Segoe UI"/>
              </a:rPr>
              <a:t>  razón de ramificación (=1 crítico)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Δ</a:t>
            </a:r>
            <a:r>
              <a:rPr sz="1200" b="0">
                <a:solidFill>
                  <a:srgbClr val="ECEAF2"/>
                </a:solidFill>
                <a:latin typeface="Segoe UI"/>
              </a:rPr>
              <a:t>  rango dinámico (dB)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Percolación</a:t>
            </a:r>
            <a:r>
              <a:rPr sz="1200" b="0">
                <a:solidFill>
                  <a:srgbClr val="ECEAF2"/>
                </a:solidFill>
                <a:latin typeface="Segoe UI"/>
              </a:rPr>
              <a:t>  transición estructural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σ, ω</a:t>
            </a:r>
            <a:r>
              <a:rPr sz="1200" b="0">
                <a:solidFill>
                  <a:srgbClr val="ECEAF2"/>
                </a:solidFill>
                <a:latin typeface="Segoe UI"/>
              </a:rPr>
              <a:t>  mundo pequeño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BAG</a:t>
            </a:r>
            <a:r>
              <a:rPr sz="1200" b="0">
                <a:solidFill>
                  <a:srgbClr val="ECEAF2"/>
                </a:solidFill>
                <a:latin typeface="Segoe UI"/>
              </a:rPr>
              <a:t>  brecha de edad cerebral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Achard S. et al. (2012) PNAS — Hubs of brain functional networks reorganized in coma.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Beggs &amp; Plenz (2003) J Neurosci; Kinouchi &amp; Copelli (2006) Nat Phys; Tagliazucchi (2016) J R Soc Interface; Toker (2022) PNAS.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FENOTIPO CEREBRAL · GRUPO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Anoxia (ANOX) — daño difuso y homogéneo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303520" cy="4023360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8463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07DBA"/>
                </a:solidFill>
                <a:latin typeface="Segoe UI"/>
              </a:rPr>
              <a:t>Sustrato neurológico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• Injuria hipóxico-isquémica </a:t>
            </a:r>
            <a:r>
              <a:rPr sz="1300" b="1">
                <a:solidFill>
                  <a:srgbClr val="B99CE8"/>
                </a:solidFill>
                <a:latin typeface="Segoe UI"/>
              </a:rPr>
              <a:t>global y simétrica</a:t>
            </a:r>
            <a:r>
              <a:rPr sz="1300" b="0">
                <a:solidFill>
                  <a:srgbClr val="ECEAF2"/>
                </a:solidFill>
                <a:latin typeface="Segoe UI"/>
              </a:rPr>
              <a:t>: afecta corteza, ganglios basales, hipocampo y zonas frontera (watershed).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• Daño </a:t>
            </a:r>
            <a:r>
              <a:rPr sz="1300" b="1">
                <a:solidFill>
                  <a:srgbClr val="B99CE8"/>
                </a:solidFill>
                <a:latin typeface="Segoe UI"/>
              </a:rPr>
              <a:t>homogéneo</a:t>
            </a:r>
            <a:r>
              <a:rPr sz="1300" b="0">
                <a:solidFill>
                  <a:srgbClr val="ECEAF2"/>
                </a:solidFill>
                <a:latin typeface="Segoe UI"/>
              </a:rPr>
              <a:t> del tejido → la topología se 'regulariza', se pierde heterogeneidad de hubs.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• Peor pronóstico funcional que el trauma en general.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5303520" cy="4023360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8463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807DBA"/>
                </a:solidFill>
                <a:latin typeface="Segoe UI"/>
              </a:rPr>
              <a:t>Qué se espera en las métricas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→ Red más </a:t>
            </a:r>
            <a:r>
              <a:rPr sz="1300" b="1">
                <a:solidFill>
                  <a:srgbClr val="6EE7B7"/>
                </a:solidFill>
                <a:latin typeface="Segoe UI"/>
              </a:rPr>
              <a:t>integrada / supercrítica</a:t>
            </a:r>
            <a:r>
              <a:rPr sz="1300" b="0">
                <a:solidFill>
                  <a:srgbClr val="ECEAF2"/>
                </a:solidFill>
                <a:latin typeface="Segoe UI"/>
              </a:rPr>
              <a:t>: λ₁ más alto, más lejos del punto crítico.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→ </a:t>
            </a:r>
            <a:r>
              <a:rPr sz="1300" b="1">
                <a:solidFill>
                  <a:srgbClr val="6EE7B7"/>
                </a:solidFill>
                <a:latin typeface="Segoe UI"/>
              </a:rPr>
              <a:t>Menor mundo pequeño</a:t>
            </a:r>
            <a:r>
              <a:rPr sz="1300" b="0">
                <a:solidFill>
                  <a:srgbClr val="ECEAF2"/>
                </a:solidFill>
                <a:latin typeface="Segoe UI"/>
              </a:rPr>
              <a:t> (más regular, menos hubs especializados).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→ Transición de percolación más </a:t>
            </a:r>
            <a:r>
              <a:rPr sz="1300" b="1">
                <a:solidFill>
                  <a:srgbClr val="6EE7B7"/>
                </a:solidFill>
                <a:latin typeface="Segoe UI"/>
              </a:rPr>
              <a:t>abrupta</a:t>
            </a:r>
            <a:r>
              <a:rPr sz="1300" b="0">
                <a:solidFill>
                  <a:srgbClr val="ECEAF2"/>
                </a:solidFill>
                <a:latin typeface="Segoe UI"/>
              </a:rPr>
              <a:t> (red homogénea).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→ Avalanchas más grandes, cola más pesada (α menor).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Fischer D. et al. (2016); Norton et al. (2012) — conectividad y DMN en coma anóxico.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Kinouchi &amp; Copelli (2006) Nat Phys — rango dinámico máximo en criticalidad.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FENOTIPO CEREBRAL · GRUPO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Traumatismo (TRAU) — daño focal y axonal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91640"/>
            <a:ext cx="5303520" cy="4023360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48463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970AB"/>
                </a:solidFill>
                <a:latin typeface="Segoe UI"/>
              </a:rPr>
              <a:t>Sustrato neurológico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• Contusiones </a:t>
            </a:r>
            <a:r>
              <a:rPr sz="1300" b="1">
                <a:solidFill>
                  <a:srgbClr val="B99CE8"/>
                </a:solidFill>
                <a:latin typeface="Segoe UI"/>
              </a:rPr>
              <a:t>focales</a:t>
            </a:r>
            <a:r>
              <a:rPr sz="1300" b="0">
                <a:solidFill>
                  <a:srgbClr val="ECEAF2"/>
                </a:solidFill>
                <a:latin typeface="Segoe UI"/>
              </a:rPr>
              <a:t> + daño axonal difuso (DAI) en uniones sustancia gris-blanca.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• Desconexión de </a:t>
            </a:r>
            <a:r>
              <a:rPr sz="1300" b="1">
                <a:solidFill>
                  <a:srgbClr val="B99CE8"/>
                </a:solidFill>
                <a:latin typeface="Segoe UI"/>
              </a:rPr>
              <a:t>tractos específicos</a:t>
            </a:r>
            <a:r>
              <a:rPr sz="1300" b="0">
                <a:solidFill>
                  <a:srgbClr val="ECEAF2"/>
                </a:solidFill>
                <a:latin typeface="Segoe UI"/>
              </a:rPr>
              <a:t> más que colapso global uniforme (Sharp et al., 2014).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• Preserva heterogeneidad topológica en regiones no lesionadas.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5303520" cy="4023360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8463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970AB"/>
                </a:solidFill>
                <a:latin typeface="Segoe UI"/>
              </a:rPr>
              <a:t>Qué se espera en las métricas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→ Perfil </a:t>
            </a:r>
            <a:r>
              <a:rPr sz="1300" b="1">
                <a:solidFill>
                  <a:srgbClr val="6EE7B7"/>
                </a:solidFill>
                <a:latin typeface="Segoe UI"/>
              </a:rPr>
              <a:t>intermedio</a:t>
            </a:r>
            <a:r>
              <a:rPr sz="1300" b="0">
                <a:solidFill>
                  <a:srgbClr val="ECEAF2"/>
                </a:solidFill>
                <a:latin typeface="Segoe UI"/>
              </a:rPr>
              <a:t>, más cercano al control que la anoxia.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→ λ₁ y small-world </a:t>
            </a:r>
            <a:r>
              <a:rPr sz="1300" b="1">
                <a:solidFill>
                  <a:srgbClr val="6EE7B7"/>
                </a:solidFill>
                <a:latin typeface="Segoe UI"/>
              </a:rPr>
              <a:t>menos alterados</a:t>
            </a:r>
            <a:r>
              <a:rPr sz="1300" b="0">
                <a:solidFill>
                  <a:srgbClr val="ECEAF2"/>
                </a:solidFill>
                <a:latin typeface="Segoe UI"/>
              </a:rPr>
              <a:t> que ANOX.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→ Mayor variabilidad entre sujetos (lesión heterogénea).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Sharp D.J., Scott G., Leech R. (2014) Nat Rev Neurol — Network dysfunction after TBI.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Hillary &amp; Grafman (2017) Trends Cogn Sci — hiperconectividad post-injuria.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FENOTIPO CEREBRAL · GRUPO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Control (CTRL) — coma sin daño estructural difuso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10789920" cy="2926080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65960"/>
            <a:ext cx="102412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542788"/>
                </a:solidFill>
                <a:latin typeface="Segoe UI"/>
              </a:rPr>
              <a:t>Referencia interna, no cerebro sano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ECEAF2"/>
                </a:solidFill>
                <a:latin typeface="Segoe UI"/>
              </a:rPr>
              <a:t>CTRL representa pacientes en coma </a:t>
            </a:r>
            <a:r>
              <a:rPr sz="1400" b="1">
                <a:solidFill>
                  <a:srgbClr val="B99CE8"/>
                </a:solidFill>
                <a:latin typeface="Segoe UI"/>
              </a:rPr>
              <a:t>sin injuria difusa evidente</a:t>
            </a:r>
            <a:r>
              <a:rPr sz="1400" b="0">
                <a:solidFill>
                  <a:srgbClr val="ECEAF2"/>
                </a:solidFill>
                <a:latin typeface="Segoe UI"/>
              </a:rPr>
              <a:t> — es la línea de base de comparación dentro de la cohorte, no un grupo neurotípico. Toda desviación de ANOX/TRAU se lee </a:t>
            </a:r>
            <a:r>
              <a:rPr sz="1400" b="1">
                <a:solidFill>
                  <a:srgbClr val="B99CE8"/>
                </a:solidFill>
                <a:latin typeface="Segoe UI"/>
              </a:rPr>
              <a:t>relativa</a:t>
            </a:r>
            <a:r>
              <a:rPr sz="1400" b="0">
                <a:solidFill>
                  <a:srgbClr val="ECEAF2"/>
                </a:solidFill>
                <a:latin typeface="Segoe UI"/>
              </a:rPr>
              <a:t> a este coma 'estructuralmente preservado'.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5B0"/>
                </a:solidFill>
                <a:latin typeface="Segoe UI"/>
              </a:rPr>
              <a:t>Implicancia: los tres grupos pueden estar en régimen supercrítico; lo interpretable es la distancia entre ellos, no respecto de un sano ideal.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Bullmore &amp; Sporns (2009) Nat Rev Neurosci — organización de redes cerebrales complejas.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RESULTADOS · CRITICALIDAD (1/4)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λ₁ — anoxia claramente supercrítica</a:t>
            </a:r>
          </a:p>
        </p:txBody>
      </p:sp>
      <p:pic>
        <p:nvPicPr>
          <p:cNvPr id="6" name="Picture 5" descr="09_crit_lambd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406640" cy="193809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19" y="1691640"/>
            <a:ext cx="3474720" cy="3977639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19" y="1874519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99CE8"/>
                </a:solidFill>
                <a:latin typeface="Segoe UI"/>
              </a:rPr>
              <a:t>Hallazgo principal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λ₁ (PROP 10%)</a:t>
            </a:r>
            <a:r>
              <a:rPr sz="1300" b="0">
                <a:solidFill>
                  <a:srgbClr val="ECEAF2"/>
                </a:solidFill>
                <a:latin typeface="Segoe UI"/>
              </a:rPr>
              <a:t>  ANOX 21.98 · TRAU 18.38 · CTRL 17.37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Ratio vs ER</a:t>
            </a:r>
            <a:r>
              <a:rPr sz="1300" b="0">
                <a:solidFill>
                  <a:srgbClr val="ECEAF2"/>
                </a:solidFill>
                <a:latin typeface="Segoe UI"/>
              </a:rPr>
              <a:t>  ANOX 1.57 · TRAU 1.28 · CTRL 1.21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EE7B7"/>
                </a:solidFill>
                <a:latin typeface="Segoe UI"/>
              </a:rPr>
              <a:t>Kruskal p = 7×10⁻⁴  (FDR 0.007)  ✓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CEAF2"/>
                </a:solidFill>
                <a:latin typeface="Segoe UI"/>
              </a:rPr>
              <a:t>CTRL vs ANOX  FDR 0.004</a:t>
            </a:r>
            <a:r>
              <a:rPr sz="1200" b="1">
                <a:solidFill>
                  <a:srgbClr val="6EE7B7"/>
                </a:solidFill>
                <a:latin typeface="Segoe UI"/>
              </a:rPr>
              <a:t>  rb = −0.89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CEAF2"/>
                </a:solidFill>
                <a:latin typeface="Segoe UI"/>
              </a:rPr>
              <a:t>ANOX vs TRAU  FDR 0.049</a:t>
            </a:r>
            <a:r>
              <a:rPr sz="1200" b="1">
                <a:solidFill>
                  <a:srgbClr val="6EE7B7"/>
                </a:solidFill>
                <a:latin typeface="Segoe UI"/>
              </a:rPr>
              <a:t>  rb = 0.67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5B0"/>
                </a:solidFill>
                <a:latin typeface="Segoe UI"/>
              </a:rPr>
              <a:t>CTRL vs TRAU  n.s.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5B0"/>
                </a:solidFill>
                <a:latin typeface="Segoe UI"/>
              </a:rPr>
              <a:t>ANOX se aleja del punto crítico hacia lo supercrítico; efecto grande y no explicado por densidad.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λ₁≈1 crítico; &gt;1 supercrítico. Normalización Erdős–Rényi controla densidad.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RESULTADOS · CRITICALIDAD (2/4)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Avalanchas y ramificación — la 'paradoja' resuelta</a:t>
            </a:r>
          </a:p>
        </p:txBody>
      </p:sp>
      <p:pic>
        <p:nvPicPr>
          <p:cNvPr id="6" name="Picture 5" descr="09_crit_branch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406640" cy="18477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19" y="1691640"/>
            <a:ext cx="3474720" cy="3977639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19" y="1874519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99CE8"/>
                </a:solidFill>
                <a:latin typeface="Segoe UI"/>
              </a:rPr>
              <a:t>Avalanchas (p compartida)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α(s)</a:t>
            </a:r>
            <a:r>
              <a:rPr sz="1300" b="0">
                <a:solidFill>
                  <a:srgbClr val="ECEAF2"/>
                </a:solidFill>
                <a:latin typeface="Segoe UI"/>
              </a:rPr>
              <a:t>  CTRL 1.93 · TRAU 1.85 · ANOX 1.76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EE7B7"/>
                </a:solidFill>
                <a:latin typeface="Segoe UI"/>
              </a:rPr>
              <a:t>ANOX cola más pesada — CTRL vs ANOX FDR 0.049 ✓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99CE8"/>
                </a:solidFill>
                <a:latin typeface="Segoe UI"/>
              </a:rPr>
              <a:t>σ_br: artefacto de la p fija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CEAF2"/>
                </a:solidFill>
                <a:latin typeface="Segoe UI"/>
              </a:rPr>
              <a:t>p compartida:</a:t>
            </a:r>
            <a:r>
              <a:rPr sz="1200" b="0">
                <a:solidFill>
                  <a:srgbClr val="ECEAF2"/>
                </a:solidFill>
                <a:latin typeface="Segoe UI"/>
              </a:rPr>
              <a:t>  CTRL 1.068 &gt; TRAU 1.053 &gt; ANOX 1.045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CEAF2"/>
                </a:solidFill>
                <a:latin typeface="Segoe UI"/>
              </a:rPr>
              <a:t>p por grupo:</a:t>
            </a:r>
            <a:r>
              <a:rPr sz="1200" b="1">
                <a:solidFill>
                  <a:srgbClr val="6EE7B7"/>
                </a:solidFill>
                <a:latin typeface="Segoe UI"/>
              </a:rPr>
              <a:t>  1.067 ≈ 1.064 ≈ 1.059  → convergen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5B0"/>
                </a:solidFill>
                <a:latin typeface="Segoe UI"/>
              </a:rPr>
              <a:t>Al evaluar cada red en SU punto crítico, la contradicción λ₁ vs σ_br desaparece: era el operating point, no biología.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σ_br=1 → criticalidad. Branching sobre avalanchas simuladas, bootstrap 1000.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RESULTADOS · CRITICALIDAD (3/4)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Robustez: IC95% por bootstrap de sujetos</a:t>
            </a:r>
          </a:p>
        </p:txBody>
      </p:sp>
      <p:pic>
        <p:nvPicPr>
          <p:cNvPr id="6" name="Picture 5" descr="09_crit_bootstrap_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10972800" cy="21923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93776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ECEAF2"/>
                </a:solidFill>
                <a:latin typeface="Segoe UI"/>
              </a:rPr>
              <a:t>λ₁_mean y α(s) separan CTRL–ANOX con IC que no se solapan. </a:t>
            </a:r>
            <a:r>
              <a:rPr sz="1300" b="0">
                <a:solidFill>
                  <a:srgbClr val="9A95B0"/>
                </a:solidFill>
                <a:latin typeface="Segoe UI"/>
              </a:rPr>
              <a:t>Δ (rango dinámico) apunta a ANOX↑ (18.5 vs 13.5 dB) pero con IC amplio [13.6, 22.6] por n=9 → tendencia, no significativo tras FDR. σ_br con p por grupo se solapa (converge a ~1.06).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Bootstrap de 1000 réplicas remuestreando sujetos con reemplazo dentro de cada grupo.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RESULTADOS · CRITICALIDAD (4/4)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Estadística unificada — FDR global (BH)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783080"/>
            <a:ext cx="4572000" cy="420624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1801368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4121F"/>
                </a:solidFill>
                <a:latin typeface="Segoe UI"/>
              </a:rPr>
              <a:t>Comparación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783080"/>
            <a:ext cx="1737360" cy="420624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80136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4121F"/>
                </a:solidFill>
                <a:latin typeface="Segoe UI"/>
              </a:rPr>
              <a:t>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783080"/>
            <a:ext cx="1737360" cy="420624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7807" y="1801368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4121F"/>
                </a:solidFill>
                <a:latin typeface="Segoe UI"/>
              </a:rPr>
              <a:t>p_FDR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783080"/>
            <a:ext cx="914400" cy="420624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7" y="1801368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4121F"/>
                </a:solidFill>
                <a:latin typeface="Segoe UI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1188720" y="2203704"/>
            <a:ext cx="457200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2221992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λ₁  CTRL vs ANOX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203704"/>
            <a:ext cx="173736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222199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0.0002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2203704"/>
            <a:ext cx="173736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222199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0.0036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2203704"/>
            <a:ext cx="91440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2221992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2624328"/>
            <a:ext cx="457200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98448" y="2642616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λ₁ Kruskal global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60720" y="2624328"/>
            <a:ext cx="173736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0448" y="2642616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0.0007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9" y="2624328"/>
            <a:ext cx="173736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7" y="2642616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0.0073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624328"/>
            <a:ext cx="91440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7" y="2642616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3044952"/>
            <a:ext cx="457200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8448" y="3063240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σ_br(comp.) CTRL vs TRAU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3044952"/>
            <a:ext cx="173736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0448" y="306324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0.0040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9" y="3044952"/>
            <a:ext cx="173736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7807" y="3063240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0.0312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3044952"/>
            <a:ext cx="91440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45167" y="3063240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3465576"/>
            <a:ext cx="457200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98448" y="3483864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λ₁  ANOX vs TRAU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3465576"/>
            <a:ext cx="173736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70448" y="3483864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0.0089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79" y="3465576"/>
            <a:ext cx="173736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07807" y="3483864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0.0488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3465576"/>
            <a:ext cx="91440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45167" y="3483864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88720" y="3886200"/>
            <a:ext cx="457200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98448" y="3904487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α(s)  CTRL vs ANOX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3886200"/>
            <a:ext cx="173736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70448" y="3904487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0.0100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79" y="3886200"/>
            <a:ext cx="173736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07807" y="3904487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0.0488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235440" y="3886200"/>
            <a:ext cx="91440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45167" y="3904487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88720" y="4306824"/>
            <a:ext cx="457200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98448" y="4325112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σ_br(comp.) CTRL vs ANOX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4306824"/>
            <a:ext cx="173736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870448" y="432511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0.0180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98079" y="4306824"/>
            <a:ext cx="173736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607807" y="4325112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0.078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35440" y="4306824"/>
            <a:ext cx="91440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45167" y="4325112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·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88720" y="4727448"/>
            <a:ext cx="457200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98448" y="4745736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Δ  CTRL vs ANOX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4727448"/>
            <a:ext cx="173736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70448" y="4745736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0.0480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98079" y="4727448"/>
            <a:ext cx="173736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07807" y="4745736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0.134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35440" y="4727448"/>
            <a:ext cx="914400" cy="420624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345167" y="4745736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·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88720" y="5148072"/>
            <a:ext cx="457200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298448" y="5166359"/>
            <a:ext cx="4389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small-world / densidad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60720" y="5148072"/>
            <a:ext cx="173736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70448" y="5166359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n.s.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498079" y="5148072"/>
            <a:ext cx="173736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07807" y="5166359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&gt;0.10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5148072"/>
            <a:ext cx="914400" cy="420624"/>
          </a:xfrm>
          <a:prstGeom prst="rect">
            <a:avLst/>
          </a:prstGeom>
          <a:solidFill>
            <a:srgbClr val="262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45167" y="5166359"/>
            <a:ext cx="731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ECEAF2"/>
                </a:solidFill>
                <a:latin typeface="Segoe UI"/>
              </a:rPr>
              <a:t>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88720" y="5705856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5B0"/>
                </a:solidFill>
                <a:latin typeface="Segoe UI"/>
              </a:rPr>
              <a:t>✓ significativo tras FDR    ·  tendencia / n.s.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RESULTADOS · PERCOLACIÓN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Percolación — transición más nítida en anoxia</a:t>
            </a:r>
          </a:p>
        </p:txBody>
      </p:sp>
      <p:pic>
        <p:nvPicPr>
          <p:cNvPr id="6" name="Picture 5" descr="09_crit_perco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406640" cy="18477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19" y="1691640"/>
            <a:ext cx="3474720" cy="3977639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19" y="1874519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99CE8"/>
                </a:solidFill>
                <a:latin typeface="Segoe UI"/>
              </a:rPr>
              <a:t>Pico de susceptibilidad χ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ANOX</a:t>
            </a:r>
            <a:r>
              <a:rPr sz="1300" b="0">
                <a:solidFill>
                  <a:srgbClr val="ECEAF2"/>
                </a:solidFill>
                <a:latin typeface="Segoe UI"/>
              </a:rPr>
              <a:t>  @ 3.0 %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542788"/>
                </a:solidFill>
                <a:latin typeface="Segoe UI"/>
              </a:rPr>
              <a:t>CTRL</a:t>
            </a:r>
            <a:r>
              <a:rPr sz="1300" b="0">
                <a:solidFill>
                  <a:srgbClr val="ECEAF2"/>
                </a:solidFill>
                <a:latin typeface="Segoe UI"/>
              </a:rPr>
              <a:t>  @ 2.2 %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970AB"/>
                </a:solidFill>
                <a:latin typeface="Segoe UI"/>
              </a:rPr>
              <a:t>TRAU</a:t>
            </a:r>
            <a:r>
              <a:rPr sz="1300" b="0">
                <a:solidFill>
                  <a:srgbClr val="ECEAF2"/>
                </a:solidFill>
                <a:latin typeface="Segoe UI"/>
              </a:rPr>
              <a:t>  @ 1.6 %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6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CEAF2"/>
                </a:solidFill>
                <a:latin typeface="Segoe UI"/>
              </a:rPr>
              <a:t>S1 (componente gigante) se superpone entre grupos: la integración global aparece al mismo umbral.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5B0"/>
                </a:solidFill>
                <a:latin typeface="Segoe UI"/>
              </a:rPr>
              <a:t>S2 y χ: ANOX con pico más alto y desplazado a la derecha → transición más abrupta, coherente con red homogénea.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Percolación por umbral proporcional; pico de χ = umbral crítico estructural.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RESULTADOS · MUNDO PEQUEÑO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Small-world — sin diferencias significativas</a:t>
            </a:r>
          </a:p>
        </p:txBody>
      </p:sp>
      <p:pic>
        <p:nvPicPr>
          <p:cNvPr id="6" name="Picture 5" descr="09_sw_by_diagno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406640" cy="164193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19" y="1691640"/>
            <a:ext cx="3474720" cy="3977639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19" y="1874519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99CE8"/>
                </a:solidFill>
                <a:latin typeface="Segoe UI"/>
              </a:rPr>
              <a:t>Guardia de densidad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6EE7B7"/>
                </a:solidFill>
                <a:latin typeface="Segoe UI"/>
              </a:rPr>
              <a:t>Densidad @ z=0.20 no difiere (Kruskal p=0.09) → σ/ω comparables.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σ_ws</a:t>
            </a:r>
            <a:r>
              <a:rPr sz="1200" b="0">
                <a:solidFill>
                  <a:srgbClr val="ECEAF2"/>
                </a:solidFill>
                <a:latin typeface="Segoe UI"/>
              </a:rPr>
              <a:t>  ANOX 1.38 · TRAU 1.59 · CTRL 1.63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ω</a:t>
            </a:r>
            <a:r>
              <a:rPr sz="1200" b="0">
                <a:solidFill>
                  <a:srgbClr val="ECEAF2"/>
                </a:solidFill>
                <a:latin typeface="Segoe UI"/>
              </a:rPr>
              <a:t>  ANOX 0.073 · CTRL 0.110 · TRAU 0.141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6C177"/>
                </a:solidFill>
                <a:latin typeface="Segoe UI"/>
              </a:rPr>
              <a:t>Todas las diferencias n.s. tras FDR (σ_ws CTRL–ANOX FDR 0.10).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5B0"/>
                </a:solidFill>
                <a:latin typeface="Segoe UI"/>
              </a:rPr>
              <a:t>Tendencia: ANOX algo menos small-world. Robusto a 3 umbrales.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σ&gt;1 = mundo pequeño. N_NULL=100, lattice×20, multi-umbral 0.15/0.20/0.25.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82296" cy="502920"/>
          </a:xfrm>
          <a:prstGeom prst="rect">
            <a:avLst/>
          </a:prstGeom>
          <a:solidFill>
            <a:srgbClr val="B99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99CE8"/>
                </a:solidFill>
                <a:latin typeface="Segoe UI"/>
              </a:rPr>
              <a:t>RESULTADOS · BRAIN AGE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5836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ECEAF2"/>
                </a:solidFill>
                <a:latin typeface="Segoe UI"/>
              </a:rPr>
              <a:t>BAG — estimación fuera de dominio (exploratoria)</a:t>
            </a:r>
          </a:p>
        </p:txBody>
      </p:sp>
      <p:pic>
        <p:nvPicPr>
          <p:cNvPr id="6" name="Picture 5" descr="09_predicted_age_coma_vs_red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406640" cy="26099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275319" y="1691640"/>
            <a:ext cx="3474720" cy="3977639"/>
          </a:xfrm>
          <a:prstGeom prst="rect">
            <a:avLst/>
          </a:prstGeom>
          <a:solidFill>
            <a:srgbClr val="1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19" y="1874519"/>
            <a:ext cx="3017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99CE8"/>
                </a:solidFill>
                <a:latin typeface="Segoe UI"/>
              </a:rPr>
              <a:t>Modelo entrenado en ReDLaT (CN)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CEAF2"/>
                </a:solidFill>
                <a:latin typeface="Segoe UI"/>
              </a:rPr>
              <a:t>MAE CN test = 6.72 años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807DBA"/>
                </a:solidFill>
                <a:latin typeface="Segoe UI"/>
              </a:rPr>
              <a:t>Edad predicha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ECEAF2"/>
                </a:solidFill>
                <a:latin typeface="Segoe UI"/>
              </a:rPr>
              <a:t>ANOX 62.1 · CTRL 57.7 · TRAU 57.4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00" b="0">
                <a:solidFill>
                  <a:srgbClr val="ECEAF2"/>
                </a:solidFill>
                <a:latin typeface="Segoe UI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6C177"/>
                </a:solidFill>
                <a:latin typeface="Segoe UI"/>
              </a:rPr>
              <a:t>Sin edad cronológica ni clínica de coma: predicción </a:t>
            </a:r>
            <a:r>
              <a:rPr sz="1200" b="1">
                <a:solidFill>
                  <a:srgbClr val="F6C177"/>
                </a:solidFill>
                <a:latin typeface="Segoe UI"/>
              </a:rPr>
              <a:t>fuera de dominio</a:t>
            </a:r>
            <a:r>
              <a:rPr sz="1200" b="0">
                <a:solidFill>
                  <a:srgbClr val="9A95B0"/>
                </a:solidFill>
                <a:latin typeface="Segoe UI"/>
              </a:rPr>
              <a:t>. El BAG absoluto no es interpretable como envejecimiento; sólo diferencias relativas entre grupos.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B99CE8"/>
                </a:solidFill>
                <a:latin typeface="Segoe UI"/>
              </a:rPr>
              <a:t>REFERENCIAS</a:t>
            </a:r>
          </a:p>
          <a:p>
            <a:pPr>
              <a:spcAft>
                <a:spcPts val="100"/>
              </a:spcAft>
            </a:pPr>
            <a:r>
              <a:rPr sz="950">
                <a:solidFill>
                  <a:srgbClr val="9A95B0"/>
                </a:solidFill>
                <a:latin typeface="Segoe UI"/>
              </a:rPr>
              <a:t>Cole &amp; Franke (2017) Trends Neurosci — brain-predicted 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